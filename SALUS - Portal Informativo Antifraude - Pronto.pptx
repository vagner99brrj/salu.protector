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9" r:id="rId15"/>
    <p:sldId id="268" r:id="rId16"/>
  </p:sldIdLst>
  <p:sldSz cx="12192000" cy="6858000"/>
  <p:notesSz cx="6858000" cy="9144000"/>
  <p:embeddedFontLst>
    <p:embeddedFont>
      <p:font typeface="Inter" panose="02000503000000020004"/>
      <p:regular r:id="rId18"/>
      <p:bold r:id="rId19"/>
      <p:italic r:id="rId20"/>
      <p:boldItalic r:id="rId21"/>
    </p:embeddedFont>
    <p:embeddedFont>
      <p:font typeface="Inter SemiBold" panose="02000503000000020004"/>
      <p:regular r:id="rId22"/>
      <p:bold r:id="rId23"/>
      <p:italic r:id="rId24"/>
      <p:boldItalic r:id="rId25"/>
    </p:embeddedFont>
    <p:embeddedFont>
      <p:font typeface="Montserrat" pitchFamily="2" charset="77"/>
      <p:regular r:id="rId26"/>
      <p:bold r:id="rId27"/>
      <p:italic r:id="rId28"/>
      <p:boldItalic r:id="rId29"/>
    </p:embeddedFont>
    <p:embeddedFont>
      <p:font typeface="Montserrat SemiBold" panose="0000070000000000000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ção Padrão" id="{F8FA1BED-B627-431D-8705-A6A7D41CD86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eção sem Título" id="{F83C9245-07AD-47E1-AD2C-7206503D3A97}">
          <p14:sldIdLst>
            <p14:sldId id="270"/>
            <p14:sldId id="264"/>
            <p14:sldId id="265"/>
            <p14:sldId id="266"/>
            <p14:sldId id="267"/>
            <p14:sldId id="269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5565E2-C4FE-45E8-B929-D565A53EE2EE}" v="31" dt="2026-05-12T18:39:51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7"/>
  </p:normalViewPr>
  <p:slideViewPr>
    <p:cSldViewPr snapToGrid="0">
      <p:cViewPr varScale="1">
        <p:scale>
          <a:sx n="104" d="100"/>
          <a:sy n="104" d="100"/>
        </p:scale>
        <p:origin x="800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13e6af907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13e6af907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13e6af907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13e6af907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hyperlink" Target="https://portal.febraban.org.br/AntiFraud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ew.safernet.org.br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BHLm56gFcTmScd3q6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7D8B8070-4AF4-19C4-726F-CD8174E84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7" name="Google Shape;87;p13"/>
          <p:cNvSpPr txBox="1"/>
          <p:nvPr/>
        </p:nvSpPr>
        <p:spPr>
          <a:xfrm>
            <a:off x="762000" y="3580507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Portal Informativo Antifraude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5022502"/>
            <a:ext cx="106680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LUCAS SANTOS • VAGNER BRUNO • NICOLAS PASSOS</a:t>
            </a:r>
            <a:endParaRPr sz="1350" b="0" i="0" u="none" strike="noStrike" cap="none">
              <a:solidFill>
                <a:srgbClr val="94A3B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PROJETO INTEGRADOR</a:t>
            </a:r>
            <a:endParaRPr sz="950">
              <a:solidFill>
                <a:srgbClr val="94A3B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F28C3A9-0F77-8E07-9D05-F43DC6611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505" y="806717"/>
            <a:ext cx="3050990" cy="3050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F2013AE-7403-2DF0-5EE2-021F65D57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3" name="Google Shape;93;p14"/>
          <p:cNvSpPr txBox="1"/>
          <p:nvPr/>
        </p:nvSpPr>
        <p:spPr>
          <a:xfrm>
            <a:off x="762000" y="2901255"/>
            <a:ext cx="50482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165%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762000" y="440620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Crescimento em 2024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62010" y="4680502"/>
            <a:ext cx="32016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6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Brasil lidera índices globais de fraudes que exploram a confiança. O SALUS foca na educação digital como barreira principal para populações com baixa escolaridade e idosos, mitigando o risco onde a tecnologia falha: o fator humano.</a:t>
            </a:r>
            <a:endParaRPr sz="888"/>
          </a:p>
        </p:txBody>
      </p:sp>
      <p:sp>
        <p:nvSpPr>
          <p:cNvPr id="96" name="Google Shape;96;p14"/>
          <p:cNvSpPr txBox="1"/>
          <p:nvPr/>
        </p:nvSpPr>
        <p:spPr>
          <a:xfrm>
            <a:off x="990600" y="574725"/>
            <a:ext cx="1096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Briefing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4"/>
          <p:cNvGrpSpPr/>
          <p:nvPr/>
        </p:nvGrpSpPr>
        <p:grpSpPr>
          <a:xfrm>
            <a:off x="6381750" y="1848578"/>
            <a:ext cx="5300700" cy="1419900"/>
            <a:chOff x="6381750" y="-301397"/>
            <a:chExt cx="5300700" cy="1419900"/>
          </a:xfrm>
        </p:grpSpPr>
        <p:sp>
          <p:nvSpPr>
            <p:cNvPr id="99" name="Google Shape;99;p14"/>
            <p:cNvSpPr txBox="1"/>
            <p:nvPr/>
          </p:nvSpPr>
          <p:spPr>
            <a:xfrm>
              <a:off x="6381750" y="-301397"/>
              <a:ext cx="5300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</a:t>
              </a:r>
              <a:r>
                <a:rPr lang="en-US" sz="2100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bjetivo</a:t>
              </a: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6381750" y="193903"/>
              <a:ext cx="50484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Criar um portal acessível focado em educação digital e proteção de populações vulneráveis (idosos e baixa escolaridade).</a:t>
              </a:r>
              <a:endParaRPr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6381750" y="3642828"/>
            <a:ext cx="5300700" cy="1659000"/>
            <a:chOff x="6381750" y="-301397"/>
            <a:chExt cx="5300700" cy="1659000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6381750" y="-301397"/>
              <a:ext cx="5300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Diferencial</a:t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6381750" y="193903"/>
              <a:ext cx="5048400" cy="11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Linguagem popular (sem jargão técnico), conteúdo multiformato (vídeos curtos) e foco em dispositivos móveis (Mobile-first).</a:t>
              </a:r>
              <a:endParaRPr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endParaRPr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1F9F1EE-50CA-F109-7A98-590D5A717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8" name="Google Shape;108;p15"/>
          <p:cNvSpPr txBox="1"/>
          <p:nvPr/>
        </p:nvSpPr>
        <p:spPr>
          <a:xfrm>
            <a:off x="990600" y="571500"/>
            <a:ext cx="1096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Benchmarking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8165" y="1241144"/>
            <a:ext cx="4526034" cy="480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001" y="1288375"/>
            <a:ext cx="4710676" cy="480384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659740" y="6060725"/>
            <a:ext cx="47106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SaferNet Brasil:</a:t>
            </a:r>
            <a:r>
              <a:rPr lang="en-US" sz="1100">
                <a:solidFill>
                  <a:schemeClr val="dk1"/>
                </a:solidFill>
              </a:rPr>
              <a:t> Bom conteúdo de denúncia, mas layout desatualizado e carregamento pesado.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6"/>
              </a:rPr>
              <a:t>https://new.safernet.org.br/</a:t>
            </a:r>
            <a:endParaRPr sz="1000" u="sng">
              <a:solidFill>
                <a:schemeClr val="hlink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965212" y="6098406"/>
            <a:ext cx="4710600" cy="9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FEBRABAN:</a:t>
            </a:r>
            <a:r>
              <a:rPr lang="en-US" sz="1100">
                <a:solidFill>
                  <a:schemeClr val="dk1"/>
                </a:solidFill>
              </a:rPr>
              <a:t> Alta credibilidade, porém linguagem muito corporativa e site denso/lento.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7"/>
              </a:rPr>
              <a:t>https://portal.febraban.org.br/AntiFraude</a:t>
            </a:r>
            <a:endParaRPr sz="1000" u="sng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8D51543E-CE18-103A-1458-F15136CF7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8" name="Google Shape;118;p16"/>
          <p:cNvSpPr txBox="1"/>
          <p:nvPr/>
        </p:nvSpPr>
        <p:spPr>
          <a:xfrm>
            <a:off x="615300" y="3059550"/>
            <a:ext cx="1096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Netnografia</a:t>
            </a:r>
            <a:endParaRPr sz="3300" b="1" dirty="0">
              <a:solidFill>
                <a:srgbClr val="1E29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1CE4C54-C511-85BE-0BDE-AB93441F8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3" name="Google Shape;123;p17"/>
          <p:cNvSpPr txBox="1"/>
          <p:nvPr/>
        </p:nvSpPr>
        <p:spPr>
          <a:xfrm>
            <a:off x="762000" y="2861200"/>
            <a:ext cx="53007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Dúvidas recorrentes sobre</a:t>
            </a:r>
            <a:endParaRPr sz="2100">
              <a:solidFill>
                <a:srgbClr val="2563E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“É golpe ou não?” em mensagens</a:t>
            </a:r>
            <a:endParaRPr sz="2100">
              <a:solidFill>
                <a:srgbClr val="2563E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 Pix e WhasApp.</a:t>
            </a:r>
            <a:endParaRPr sz="2100">
              <a:solidFill>
                <a:srgbClr val="2563E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762000" y="3923250"/>
            <a:ext cx="50484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Público de 35-60 anos é altamente reativo a alertas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simples compartilhados em redes sociais.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1047750" y="3479393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1047750" y="3753683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990600" y="571500"/>
            <a:ext cx="10961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Evidências</a:t>
            </a:r>
            <a:endParaRPr sz="3300" b="1">
              <a:solidFill>
                <a:srgbClr val="1E29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WhatsApp</a:t>
            </a:r>
            <a:endParaRPr/>
          </a:p>
        </p:txBody>
      </p:sp>
      <p:pic>
        <p:nvPicPr>
          <p:cNvPr id="128" name="Google Shape;12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6225" y="649526"/>
            <a:ext cx="5838326" cy="555894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762000" y="612040"/>
            <a:ext cx="95400" cy="912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8608A8D-BF5F-4C72-AC8D-C4AB6E407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4" name="Google Shape;134;p18"/>
          <p:cNvSpPr txBox="1"/>
          <p:nvPr/>
        </p:nvSpPr>
        <p:spPr>
          <a:xfrm>
            <a:off x="647137" y="2735176"/>
            <a:ext cx="530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Ofertas Irreais no Facebook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647137" y="3230476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Vítimas sentem vergonha de relatar perdas financeiras.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932887" y="3968603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932887" y="4242894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932887" y="4517184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990600" y="571500"/>
            <a:ext cx="10961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Evidências </a:t>
            </a:r>
            <a:endParaRPr sz="3300" b="1" i="0" u="none" strike="noStrike" cap="none">
              <a:solidFill>
                <a:srgbClr val="1E29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Marketplace</a:t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762000" y="612040"/>
            <a:ext cx="95400" cy="912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5525" y="882597"/>
            <a:ext cx="5300701" cy="5403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579F3BB-0115-7E2C-3016-9F193A008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6" name="Google Shape;146;p19"/>
          <p:cNvSpPr txBox="1"/>
          <p:nvPr/>
        </p:nvSpPr>
        <p:spPr>
          <a:xfrm>
            <a:off x="6526725" y="6316200"/>
            <a:ext cx="530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Relatos de Golpes Digitais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457950" y="2520924"/>
            <a:ext cx="4667400" cy="3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457200" lvl="0" indent="-2984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Char char="●"/>
            </a:pPr>
            <a:r>
              <a:rPr lang="en-US" sz="11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Lives Falsas: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Canais invadidos transmitem vídeos gravados de famosos prometendo dobrar investimentos em criptomoedas.</a:t>
            </a:r>
            <a:endParaRPr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Char char="●"/>
            </a:pPr>
            <a:r>
              <a:rPr lang="en-US" sz="11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Comentários de "Prêmio":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Perfis falsos imitam o dono do canal para dizer que você ganhou algo e pedir contato via WhatsApp/Telegram.</a:t>
            </a:r>
            <a:endParaRPr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Char char="●"/>
            </a:pPr>
            <a:r>
              <a:rPr lang="en-US" sz="11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Ataques a Criadores: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E-mails de patrocínio falso com anexos maliciosos que roubam o acesso ao canal.</a:t>
            </a:r>
            <a:endParaRPr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Char char="●"/>
            </a:pPr>
            <a:r>
              <a:rPr lang="en-US" sz="11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Promessas de Dinheiro Fácil: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Vídeos sobre apps de tarefas ou jogos de azar que servem apenas para capturar dados bancários.</a:t>
            </a:r>
            <a:endParaRPr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Char char="●"/>
            </a:pPr>
            <a:r>
              <a:rPr lang="en-US" sz="11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Deepfakes: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Uso de IA para criar vídeos de celebridades recomendando investimentos fraudulentos.</a:t>
            </a:r>
            <a:endParaRPr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804511" y="3463147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990600" y="571500"/>
            <a:ext cx="10961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Evidências</a:t>
            </a:r>
            <a:r>
              <a:rPr lang="en-US" sz="3300" b="1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3300" b="1">
              <a:solidFill>
                <a:srgbClr val="1E29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YouTube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804511" y="3737437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5098" y="1093537"/>
            <a:ext cx="5652326" cy="504791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804511" y="3188857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762000" y="2029500"/>
            <a:ext cx="530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Golpes mais comuns…</a:t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762000" y="612040"/>
            <a:ext cx="95400" cy="912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F2D6574-CAA6-2FA4-60D0-3F55FC2E9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9" name="Google Shape;159;p20"/>
          <p:cNvSpPr txBox="1"/>
          <p:nvPr/>
        </p:nvSpPr>
        <p:spPr>
          <a:xfrm>
            <a:off x="990600" y="571500"/>
            <a:ext cx="1096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Matriz CSD</a:t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762000" y="571500"/>
            <a:ext cx="57300" cy="514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424" y="1571774"/>
            <a:ext cx="10891151" cy="441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04FC929-0E6E-C15A-128E-930CF2628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Google Shape;118;p16">
            <a:extLst>
              <a:ext uri="{FF2B5EF4-FFF2-40B4-BE49-F238E27FC236}">
                <a16:creationId xmlns:a16="http://schemas.microsoft.com/office/drawing/2014/main" id="{86D07766-854A-4E1A-D01F-C7AE3B88FA7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09800" y="269398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 b="1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Análise do Questionário</a:t>
            </a:r>
            <a:endParaRPr sz="3300" b="1" dirty="0">
              <a:solidFill>
                <a:srgbClr val="1E293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67B65C3-1634-6663-32D6-0DEA843B9BB4}"/>
              </a:ext>
            </a:extLst>
          </p:cNvPr>
          <p:cNvSpPr txBox="1"/>
          <p:nvPr/>
        </p:nvSpPr>
        <p:spPr>
          <a:xfrm>
            <a:off x="8250710" y="6166594"/>
            <a:ext cx="3462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https://forms.gle/BHLm56gFcTmScd3q6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7687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9FCB5B5-A04B-C49A-9296-6A3C24CF2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6" name="Google Shape;16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66850"/>
            <a:ext cx="1066800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762000" y="4558605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 maioria dos respondentes convive com a fraude, mas a falta de letramento institucional impede a resposta adequada.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990600" y="571500"/>
            <a:ext cx="1096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Exposição ao Risco</a:t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0C66A2E-0038-76EC-F73D-2BE50251E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4" name="Google Shape;17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66850"/>
            <a:ext cx="1066800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/>
          <p:nvPr/>
        </p:nvSpPr>
        <p:spPr>
          <a:xfrm>
            <a:off x="762000" y="5511105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82,9% dos usuários reagem de forma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reativa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(apenas apagam a mensagem), perdendo a oportunidade de aprender e denunciar.</a:t>
            </a:r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990600" y="571500"/>
            <a:ext cx="1096137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Padrões de Comportamento</a:t>
            </a:r>
            <a:endParaRPr/>
          </a:p>
        </p:txBody>
      </p:sp>
      <p:sp>
        <p:nvSpPr>
          <p:cNvPr id="177" name="Google Shape;177;p22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AEC9C6C-4391-A581-4B2F-B763EEF78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2" name="Google Shape;182;p23"/>
          <p:cNvSpPr txBox="1"/>
          <p:nvPr/>
        </p:nvSpPr>
        <p:spPr>
          <a:xfrm>
            <a:off x="6381750" y="2548979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Autônoma, 52 Anos</a:t>
            </a:r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6381750" y="3044279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Moradora de Nova Iguaçu, Marlene usa o celular para vender seus salgados. Ela é o coração do projeto SALUS.</a:t>
            </a:r>
            <a:endParaRPr/>
          </a:p>
        </p:txBody>
      </p:sp>
      <p:sp>
        <p:nvSpPr>
          <p:cNvPr id="184" name="Google Shape;184;p23"/>
          <p:cNvSpPr txBox="1"/>
          <p:nvPr/>
        </p:nvSpPr>
        <p:spPr>
          <a:xfrm>
            <a:off x="6381750" y="3885945"/>
            <a:ext cx="50482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Comportamento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Digital: 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apenas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 WhatsApp e Facebook no cellular,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depende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ajuda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filha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prefere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contúdos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simples 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visuais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85" name="Google Shape;185;p23"/>
          <p:cNvSpPr txBox="1"/>
          <p:nvPr/>
        </p:nvSpPr>
        <p:spPr>
          <a:xfrm>
            <a:off x="6381750" y="5017034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Experiências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Já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foi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vítima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golpe (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perdeu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R$ 1.200) 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não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soube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agir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denunciar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86" name="Google Shape;186;p23"/>
          <p:cNvSpPr txBox="1"/>
          <p:nvPr/>
        </p:nvSpPr>
        <p:spPr>
          <a:xfrm>
            <a:off x="990600" y="571500"/>
            <a:ext cx="1096137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Persona: Marlene Lima</a:t>
            </a:r>
            <a:endParaRPr/>
          </a:p>
        </p:txBody>
      </p:sp>
      <p:sp>
        <p:nvSpPr>
          <p:cNvPr id="187" name="Google Shape;187;p23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614608"/>
            <a:ext cx="5185526" cy="4742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C426F3-493B-4085-7D00-FD4AFE2ED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3" name="Google Shape;193;p24"/>
          <p:cNvSpPr/>
          <p:nvPr/>
        </p:nvSpPr>
        <p:spPr>
          <a:xfrm>
            <a:off x="615193" y="3876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556521" y="4162425"/>
            <a:ext cx="2464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Título</a:t>
            </a:r>
            <a:endParaRPr/>
          </a:p>
        </p:txBody>
      </p:sp>
      <p:sp>
        <p:nvSpPr>
          <p:cNvPr id="195" name="Google Shape;195;p24"/>
          <p:cNvSpPr txBox="1"/>
          <p:nvPr/>
        </p:nvSpPr>
        <p:spPr>
          <a:xfrm>
            <a:off x="615193" y="4657725"/>
            <a:ext cx="23469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“A proteção na palma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 mão”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24"/>
          <p:cNvSpPr txBox="1"/>
          <p:nvPr/>
        </p:nvSpPr>
        <p:spPr>
          <a:xfrm>
            <a:off x="3330230" y="1895408"/>
            <a:ext cx="2464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</a:t>
            </a:r>
            <a:r>
              <a:rPr lang="en-US" sz="21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texto</a:t>
            </a:r>
            <a:endParaRPr/>
          </a:p>
        </p:txBody>
      </p:sp>
      <p:sp>
        <p:nvSpPr>
          <p:cNvPr id="197" name="Google Shape;197;p24"/>
          <p:cNvSpPr txBox="1"/>
          <p:nvPr/>
        </p:nvSpPr>
        <p:spPr>
          <a:xfrm>
            <a:off x="2727345" y="2390714"/>
            <a:ext cx="36699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Marlene recebe uma mensagem no WhatsApp com uma promoção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“Imperdível” de ingredientes para seus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salgados, pedindo um pix antecipado.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6103940" y="4162425"/>
            <a:ext cx="2464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Ação</a:t>
            </a:r>
            <a:endParaRPr/>
          </a:p>
        </p:txBody>
      </p:sp>
      <p:sp>
        <p:nvSpPr>
          <p:cNvPr id="199" name="Google Shape;199;p24"/>
          <p:cNvSpPr txBox="1"/>
          <p:nvPr/>
        </p:nvSpPr>
        <p:spPr>
          <a:xfrm>
            <a:off x="5551096" y="4657725"/>
            <a:ext cx="35700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Antes de transferir, ela lembra do </a:t>
            </a:r>
            <a:r>
              <a:rPr lang="en-US" sz="135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SALUS </a:t>
            </a: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 assiste ao um vídeo curto: “Promoção ou golpe? como não perder seu lucro”.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8877650" y="1903280"/>
            <a:ext cx="2464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Resultado</a:t>
            </a:r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8626768" y="2398575"/>
            <a:ext cx="29661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Ela percebe que a oferta é falsa, bloqueia o contato e continua seu trabalho com a tranquilidade de que seu dinheiro está a salvo.</a:t>
            </a:r>
            <a:endParaRPr/>
          </a:p>
        </p:txBody>
      </p:sp>
      <p:sp>
        <p:nvSpPr>
          <p:cNvPr id="202" name="Google Shape;202;p24"/>
          <p:cNvSpPr txBox="1"/>
          <p:nvPr/>
        </p:nvSpPr>
        <p:spPr>
          <a:xfrm>
            <a:off x="990600" y="571500"/>
            <a:ext cx="1096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Cenário da Persona</a:t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1702903" y="37909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4476613" y="37909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7250322" y="37909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10024032" y="37909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1554BC0-0F31-544C-8CF2-FEC2B0817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0" name="Google Shape;220;p26"/>
          <p:cNvSpPr txBox="1"/>
          <p:nvPr/>
        </p:nvSpPr>
        <p:spPr>
          <a:xfrm>
            <a:off x="990600" y="571500"/>
            <a:ext cx="1096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Mapa de Empatia - Marlene Lima</a:t>
            </a:r>
            <a:endParaRPr/>
          </a:p>
        </p:txBody>
      </p:sp>
      <p:sp>
        <p:nvSpPr>
          <p:cNvPr id="221" name="Google Shape;221;p26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8474" y="1413932"/>
            <a:ext cx="7002278" cy="512528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6"/>
          <p:cNvSpPr txBox="1"/>
          <p:nvPr/>
        </p:nvSpPr>
        <p:spPr>
          <a:xfrm>
            <a:off x="411975" y="1548975"/>
            <a:ext cx="3967500" cy="4426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Resumo</a:t>
            </a:r>
            <a:r>
              <a:rPr lang="en-US" sz="1600" b="1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do </a:t>
            </a:r>
            <a:r>
              <a:rPr lang="en-US" sz="1600" b="1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Perfil</a:t>
            </a:r>
            <a:endParaRPr sz="1600" b="1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sz="1100" b="1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Pensa e Sente: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Insegurança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com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finanças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digitais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medo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errar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ao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usar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tecnologia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vergonha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já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ter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sido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vítima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 golpe.</a:t>
            </a:r>
            <a:endParaRPr sz="110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sz="1100" b="1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Vê</a:t>
            </a:r>
            <a:r>
              <a:rPr lang="en-US" sz="1100" b="1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Pessoas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ao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redor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usando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tecnologia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com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facilidade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aplicativos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com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telas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confusas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muito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texto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muitas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mensagens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urgentes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no WhatsApp.</a:t>
            </a:r>
            <a:endParaRPr sz="110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sz="1100" b="1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Ouve</a:t>
            </a:r>
            <a:r>
              <a:rPr lang="en-US" sz="1100" b="1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Orientações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alertas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da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filha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correntes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avisos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enviados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amigos,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comentários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conhecidos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sobre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golpes.</a:t>
            </a:r>
            <a:endParaRPr sz="110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sz="1100" b="1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Faz: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Usa WhatsApp para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trabalho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pagamentos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pede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ajuda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quando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não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entende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algo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tecnológico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evita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mexer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em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aplicativos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quando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tem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dúvida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sz="1100" b="1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Dores: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Dificuldade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em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usar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tecnologia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sozinha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vulnerabilidade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 golpes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digitais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medo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insegurança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após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experiências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negativas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sz="1100" b="1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Ganhos</a:t>
            </a:r>
            <a:r>
              <a:rPr lang="en-US" sz="1100" b="1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Orientação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simples e visual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nos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aplicativos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mais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segurança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proteção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contra golpes,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confiança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para usar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serviços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digitais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sozinha</a:t>
            </a:r>
            <a:r>
              <a:rPr lang="en-US" sz="11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244FC79-001A-ACB3-C0EC-64136B771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2" name="Google Shape;212;p25"/>
          <p:cNvSpPr txBox="1"/>
          <p:nvPr/>
        </p:nvSpPr>
        <p:spPr>
          <a:xfrm>
            <a:off x="495300" y="2574663"/>
            <a:ext cx="112014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 err="1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Segurança</a:t>
            </a:r>
            <a:r>
              <a:rPr lang="en-US" sz="420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200" b="1" i="0" u="none" strike="noStrike" cap="none" dirty="0" err="1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ditigital</a:t>
            </a:r>
            <a:r>
              <a:rPr lang="en-US" sz="420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para </a:t>
            </a:r>
            <a:r>
              <a:rPr lang="en-US" sz="4200" b="1" i="0" u="none" strike="noStrike" cap="none" dirty="0" err="1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todos</a:t>
            </a:r>
            <a:r>
              <a:rPr lang="en-US" sz="420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dirty="0"/>
          </a:p>
        </p:txBody>
      </p:sp>
      <p:sp>
        <p:nvSpPr>
          <p:cNvPr id="213" name="Google Shape;213;p25"/>
          <p:cNvSpPr txBox="1"/>
          <p:nvPr/>
        </p:nvSpPr>
        <p:spPr>
          <a:xfrm>
            <a:off x="762000" y="3765201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Obrigado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pela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atenção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endParaRPr dirty="0"/>
          </a:p>
        </p:txBody>
      </p:sp>
      <p:sp>
        <p:nvSpPr>
          <p:cNvPr id="214" name="Google Shape;214;p25"/>
          <p:cNvSpPr txBox="1"/>
          <p:nvPr/>
        </p:nvSpPr>
        <p:spPr>
          <a:xfrm>
            <a:off x="762000" y="4750084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SALUS Antifraude</a:t>
            </a:r>
            <a:endParaRPr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3A9CF35-F3F0-242F-8508-1C692205C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253" y="917662"/>
            <a:ext cx="995494" cy="9954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697</Words>
  <Application>Microsoft Macintosh PowerPoint</Application>
  <PresentationFormat>Widescreen</PresentationFormat>
  <Paragraphs>73</Paragraphs>
  <Slides>15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Inter</vt:lpstr>
      <vt:lpstr>Montserrat</vt:lpstr>
      <vt:lpstr>Inter SemiBold</vt:lpstr>
      <vt:lpstr>Arial</vt:lpstr>
      <vt:lpstr>Calibri</vt:lpstr>
      <vt:lpstr>Montserrat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Análise do Questionário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LUCAS DOS SANTOS FARIA</cp:lastModifiedBy>
  <cp:revision>4</cp:revision>
  <dcterms:modified xsi:type="dcterms:W3CDTF">2026-05-12T21:46:09Z</dcterms:modified>
</cp:coreProperties>
</file>